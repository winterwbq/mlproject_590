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80" r:id="rId2"/>
    <p:sldId id="333" r:id="rId3"/>
    <p:sldId id="334" r:id="rId4"/>
    <p:sldId id="321" r:id="rId5"/>
    <p:sldId id="324" r:id="rId6"/>
    <p:sldId id="330" r:id="rId7"/>
    <p:sldId id="331" r:id="rId8"/>
    <p:sldId id="332" r:id="rId9"/>
    <p:sldId id="312" r:id="rId10"/>
    <p:sldId id="310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Helvetica Neue Roman" panose="02000503000000020004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880B9"/>
    <a:srgbClr val="969595"/>
    <a:srgbClr val="AA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83"/>
    <p:restoredTop sz="88533"/>
  </p:normalViewPr>
  <p:slideViewPr>
    <p:cSldViewPr snapToGrid="0">
      <p:cViewPr varScale="1">
        <p:scale>
          <a:sx n="143" d="100"/>
          <a:sy n="143" d="100"/>
        </p:scale>
        <p:origin x="1168" y="184"/>
      </p:cViewPr>
      <p:guideLst>
        <p:guide orient="horz" pos="16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Each data point is one plasma operating case.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Our input space has 49 mole-fraction variables, plus two operating-condition scalars: reduced electric field E/N and discharge power. All are continuous, and we model E/N and power in log scale because their ranges are multiplicative. In the joint setup this gives a 51-dimensional input vector.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For outputs, we predict reaction kinetics: 204 RATE CONST values and 204 SUPER RATE values. Both are nonnegative and highly skewed; RATE CONST has many tiny values and some zeros, while SUPER RATE is even sparser, with many channels always zero.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To make regression stable, we apply a per-reaction epsilon and train in log space, then invert back to physical units for reporting and downstream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3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We simplify the method comparison along three axes. First, task strategy: separate-task models train RATE CONST and SUPER RATE independently, while joint-task models predict both together. Second, model family: we compare Ridge as a linear baseline,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as a nonlinear tree model, and FFN as a neural baseline. Third, for separate-task models, we compare direct-output versus latent-output, where latent-output uses PCA to compress the 204-dimensional target, predicts latent coefficients, then reconstructs the full output vector.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To keep the presentation focused, we only report best-performing feature configurations: for RATE CONST we use composition-PCA with log E/N and log power; for SUPER RATE and joint FFN we use all inputs with log E/N and log power.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For tuning, we use 5-fold shuffled cross-validation on train/validation data, and select by validation log-RMSE, or joint log-RMSE for multitask. Hyperparameters are curated and fixed to stable settings: Ridge alpha 10,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with 200 trees and depth 12, and FFN with 3 layers of width 256 plus early stopping. This gives us a fair, controlled comparison between separate vs joint learning and direct vs latent output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73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Across both targets and both splits,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"/>
              </a:rPr>
              <a:t>Separate-task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is consistently best.”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“For RATE CONST, log-RMSE is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0.0685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(random) and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0.0487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(10mJ holdout), clearly below joint FFN.”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“For SUPER RATE, the gap is larger: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0.00382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and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0.00362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for separate-task vs higher joint errors.”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“So joint learning is feasible, but currently shows negative transfer compared with separate-task.”</a:t>
            </a: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Dataset size is moderate for deep nets but strong for tree ensembles;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often wins in this “scientific tabular” regime.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Randomized splits in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reduce variance and improve generalization stability, which you can see in consistent performance across random-case and power-holdout settings.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Multi-output regression with trees works well when outputs share structure but not a smooth shared latent manifold, which appears true here.</a:t>
            </a: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0634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1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40675" y="1009175"/>
            <a:ext cx="814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40675" y="1009175"/>
            <a:ext cx="814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540300" y="1604025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2010427" y="1748247"/>
            <a:ext cx="70410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0" i="0" u="none" strike="noStrike" cap="none">
                <a:solidFill>
                  <a:srgbClr val="002042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2177441" y="2946824"/>
            <a:ext cx="66954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60"/>
              </a:spcBef>
              <a:spcAft>
                <a:spcPts val="0"/>
              </a:spcAft>
              <a:buClr>
                <a:srgbClr val="36609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66092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2"/>
          </p:nvPr>
        </p:nvSpPr>
        <p:spPr>
          <a:xfrm>
            <a:off x="140027" y="1748247"/>
            <a:ext cx="1590300" cy="15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001B3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001B36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001B3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001B36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 b="0" i="0" u="none" strike="noStrike" cap="none">
                <a:latin typeface="Helvetica Neue Roman"/>
                <a:ea typeface="Helvetica Neue Roman"/>
                <a:cs typeface="Helvetica Neue Roman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274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6">
            <a:alphaModFix amt="44000"/>
          </a:blip>
          <a:srcRect t="69579"/>
          <a:stretch/>
        </p:blipFill>
        <p:spPr>
          <a:xfrm rot="-5400000" flipH="1">
            <a:off x="-657763" y="1986087"/>
            <a:ext cx="2076450" cy="7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6">
            <a:alphaModFix amt="44000"/>
          </a:blip>
          <a:srcRect l="25233"/>
          <a:stretch/>
        </p:blipFill>
        <p:spPr>
          <a:xfrm rot="5400000">
            <a:off x="2066375" y="-507925"/>
            <a:ext cx="15524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6">
            <a:alphaModFix amt="44000"/>
          </a:blip>
          <a:srcRect b="16303"/>
          <a:stretch/>
        </p:blipFill>
        <p:spPr>
          <a:xfrm rot="10800000" flipH="1">
            <a:off x="3770575" y="-7800"/>
            <a:ext cx="2076450" cy="21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6">
            <a:alphaModFix amt="44000"/>
          </a:blip>
          <a:srcRect l="20420"/>
          <a:stretch/>
        </p:blipFill>
        <p:spPr>
          <a:xfrm rot="5400000">
            <a:off x="5940113" y="-450138"/>
            <a:ext cx="16524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6">
            <a:alphaModFix amt="44000"/>
          </a:blip>
          <a:srcRect r="42850" b="8659"/>
          <a:stretch/>
        </p:blipFill>
        <p:spPr>
          <a:xfrm rot="10800000" flipH="1">
            <a:off x="7949550" y="-7800"/>
            <a:ext cx="1186650" cy="23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6">
            <a:alphaModFix amt="44000"/>
          </a:blip>
          <a:srcRect l="5446" b="16611"/>
          <a:stretch/>
        </p:blipFill>
        <p:spPr>
          <a:xfrm rot="10800000" flipH="1">
            <a:off x="-7800" y="0"/>
            <a:ext cx="1963350" cy="21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6">
            <a:alphaModFix amt="44000"/>
          </a:blip>
          <a:srcRect l="28617"/>
          <a:stretch/>
        </p:blipFill>
        <p:spPr>
          <a:xfrm rot="5400000" flipH="1">
            <a:off x="1964687" y="3128462"/>
            <a:ext cx="14822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 amt="44000"/>
          </a:blip>
          <a:srcRect b="18659"/>
          <a:stretch/>
        </p:blipFill>
        <p:spPr>
          <a:xfrm>
            <a:off x="3633800" y="3079625"/>
            <a:ext cx="20764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6">
            <a:alphaModFix amt="44000"/>
          </a:blip>
          <a:srcRect l="23424"/>
          <a:stretch/>
        </p:blipFill>
        <p:spPr>
          <a:xfrm rot="5400000" flipH="1">
            <a:off x="5834525" y="3074575"/>
            <a:ext cx="15900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6">
            <a:alphaModFix amt="44000"/>
          </a:blip>
          <a:srcRect r="35889" b="11402"/>
          <a:stretch/>
        </p:blipFill>
        <p:spPr>
          <a:xfrm>
            <a:off x="7812775" y="2884375"/>
            <a:ext cx="1331225" cy="22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6">
            <a:alphaModFix amt="44000"/>
          </a:blip>
          <a:srcRect l="12033" b="18659"/>
          <a:stretch/>
        </p:blipFill>
        <p:spPr>
          <a:xfrm>
            <a:off x="-7800" y="3079625"/>
            <a:ext cx="18265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79350" y="348175"/>
            <a:ext cx="8385300" cy="4417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C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9" r:id="rId3"/>
    <p:sldLayoutId id="214748366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7077-D41D-997D-C9C1-51D05675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8" y="1147865"/>
            <a:ext cx="7765125" cy="863815"/>
          </a:xfrm>
        </p:spPr>
        <p:txBody>
          <a:bodyPr>
            <a:noAutofit/>
          </a:bodyPr>
          <a:lstStyle/>
          <a:p>
            <a:pPr algn="ctr" defTabSz="457200">
              <a:spcAft>
                <a:spcPts val="450"/>
              </a:spcAft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Plasma Kinetics Simulation </a:t>
            </a:r>
            <a:endParaRPr lang="en-US" sz="3600" b="1" kern="1200" dirty="0">
              <a:solidFill>
                <a:srgbClr val="0070C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42DC8-6B58-26E8-4BD5-41E77A0F3663}"/>
              </a:ext>
            </a:extLst>
          </p:cNvPr>
          <p:cNvSpPr txBox="1"/>
          <p:nvPr/>
        </p:nvSpPr>
        <p:spPr>
          <a:xfrm>
            <a:off x="1594130" y="2571750"/>
            <a:ext cx="5971922" cy="170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u="sng" dirty="0" err="1"/>
              <a:t>Bingqing</a:t>
            </a:r>
            <a:r>
              <a:rPr lang="en-US" altLang="zh-CN" sz="1800" b="1" u="sng" dirty="0"/>
              <a:t> Wang &amp; </a:t>
            </a:r>
            <a:r>
              <a:rPr lang="en-US" altLang="zh-CN" sz="1800" b="1" u="sng" dirty="0" err="1"/>
              <a:t>Jisu</a:t>
            </a:r>
            <a:r>
              <a:rPr lang="en-US" altLang="zh-CN" sz="1800" b="1" u="sng" dirty="0"/>
              <a:t> Jeon</a:t>
            </a:r>
            <a:endParaRPr lang="en-US" altLang="zh-CN" sz="1800" b="1" dirty="0"/>
          </a:p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Department of Nuclear Engineering and Radiological Sciences, </a:t>
            </a:r>
          </a:p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Michigan, Ann Arbor, Michigan 48109-2104, USA</a:t>
            </a:r>
          </a:p>
          <a:p>
            <a:pPr algn="ctr"/>
            <a:endParaRPr lang="en-US" altLang="zh-CN" sz="105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“NERS 590: </a:t>
            </a:r>
            <a:r>
              <a:rPr lang="en-US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Machine Learning for Nuclear Engineers” -</a:t>
            </a:r>
            <a:r>
              <a:rPr lang="en-US" altLang="zh-CN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 Project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02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8A6AF-64C8-43D5-376E-C1C8278688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5D1D3-A00D-6E9A-DCA4-63A44CE8FD2D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1F8BC-36EC-98EC-5988-ABC66FE8EAC0}"/>
                  </a:ext>
                </a:extLst>
              </p:cNvPr>
              <p:cNvSpPr txBox="1"/>
              <p:nvPr/>
            </p:nvSpPr>
            <p:spPr>
              <a:xfrm>
                <a:off x="428450" y="803159"/>
                <a:ext cx="8117788" cy="263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00" b="1" dirty="0">
                    <a:latin typeface="+mn-lt"/>
                  </a:rPr>
                  <a:t>• </a:t>
                </a:r>
                <a:r>
                  <a:rPr lang="en-US" dirty="0">
                    <a:latin typeface="+mn-lt"/>
                  </a:rPr>
                  <a:t>Low temperature plasmas is partially-ionized gas and involves </a:t>
                </a:r>
                <a:r>
                  <a:rPr lang="en-US" b="1" dirty="0">
                    <a:latin typeface="+mn-lt"/>
                  </a:rPr>
                  <a:t>chemical reactions </a:t>
                </a:r>
                <a:r>
                  <a:rPr lang="en-US" dirty="0">
                    <a:latin typeface="+mn-lt"/>
                  </a:rPr>
                  <a:t>such as ionizations and excitations.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The </a:t>
                </a:r>
                <a:r>
                  <a:rPr lang="en-US" b="1" dirty="0">
                    <a:latin typeface="+mn-lt"/>
                  </a:rPr>
                  <a:t>electron impact rate coefficients</a:t>
                </a:r>
                <a:r>
                  <a:rPr lang="en-US" dirty="0">
                    <a:latin typeface="+mn-lt"/>
                  </a:rPr>
                  <a:t> k are calculated from electron distribution function.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Typically, </a:t>
                </a:r>
                <a:r>
                  <a:rPr lang="en-US" b="1" dirty="0">
                    <a:latin typeface="+mn-lt"/>
                  </a:rPr>
                  <a:t>two-term Boltzmann equation</a:t>
                </a:r>
                <a:r>
                  <a:rPr lang="en-US" dirty="0">
                    <a:latin typeface="+mn-lt"/>
                  </a:rPr>
                  <a:t> is numerically solved to obtain electron distribution function, mainly dependent on E/N and densities of charged/neutral species</a:t>
                </a:r>
              </a:p>
              <a:p>
                <a:pPr>
                  <a:spcAft>
                    <a:spcPts val="600"/>
                  </a:spcAft>
                </a:pPr>
                <a:endParaRPr lang="en-US" dirty="0">
                  <a:latin typeface="+mn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However, this is still very </a:t>
                </a:r>
                <a:r>
                  <a:rPr lang="en-US" b="1" dirty="0">
                    <a:latin typeface="+mn-lt"/>
                  </a:rPr>
                  <a:t>computationally expensive </a:t>
                </a:r>
                <a:r>
                  <a:rPr lang="en-US" dirty="0">
                    <a:latin typeface="+mn-lt"/>
                  </a:rPr>
                  <a:t>especially in 2-dimensional domain and machine learning model to replace Boltzmann equation solver can significantly </a:t>
                </a:r>
                <a:r>
                  <a:rPr lang="en-US" b="1" dirty="0">
                    <a:latin typeface="+mn-lt"/>
                  </a:rPr>
                  <a:t>reduce the calculation time</a:t>
                </a:r>
                <a:r>
                  <a:rPr lang="en-US" dirty="0">
                    <a:latin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1F8BC-36EC-98EC-5988-ABC66FE8E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0" y="803159"/>
                <a:ext cx="8117788" cy="2639633"/>
              </a:xfrm>
              <a:prstGeom prst="rect">
                <a:avLst/>
              </a:prstGeom>
              <a:blipFill>
                <a:blip r:embed="rId2"/>
                <a:stretch>
                  <a:fillRect l="-156" t="-478" b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09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463A4-DC8A-6A8C-342E-70492A2CA8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09C2A-4CCA-FFC2-352E-1EE0D31FEDD3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83769-F8BC-5D7D-6E2C-B896457F9BDB}"/>
              </a:ext>
            </a:extLst>
          </p:cNvPr>
          <p:cNvSpPr txBox="1"/>
          <p:nvPr/>
        </p:nvSpPr>
        <p:spPr>
          <a:xfrm>
            <a:off x="461727" y="766946"/>
            <a:ext cx="7795033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0-dimensional model </a:t>
            </a:r>
            <a:r>
              <a:rPr lang="en-US" sz="1400" b="1" i="1" dirty="0" err="1"/>
              <a:t>GlobalKin</a:t>
            </a:r>
            <a:r>
              <a:rPr lang="en-US" sz="1400" i="1" dirty="0"/>
              <a:t> </a:t>
            </a:r>
            <a:r>
              <a:rPr lang="en-US" sz="1400" dirty="0"/>
              <a:t>developed by Prof. Kushner’s group was used to obtain the data set of rate coefficients &amp; E/N and densities of charged/neutral species.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Ar</a:t>
            </a:r>
            <a:r>
              <a:rPr lang="en-US" sz="1400" dirty="0"/>
              <a:t>/H2O = 98/2, 1 kHz pulse with width of 100 ns, energy deposition per pulse from 0.1 to 10 J/cm</a:t>
            </a:r>
            <a:r>
              <a:rPr lang="en-US" sz="1400" baseline="30000" dirty="0"/>
              <a:t>3</a:t>
            </a:r>
            <a:r>
              <a:rPr lang="en-US" sz="14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E/N from 10</a:t>
            </a:r>
            <a:r>
              <a:rPr lang="en-US" sz="1400" baseline="30000" dirty="0"/>
              <a:t>-3</a:t>
            </a:r>
            <a:r>
              <a:rPr lang="en-US" sz="1400" dirty="0"/>
              <a:t> to 10</a:t>
            </a:r>
            <a:r>
              <a:rPr lang="en-US" sz="1400" baseline="30000" dirty="0"/>
              <a:t>3</a:t>
            </a:r>
            <a:r>
              <a:rPr lang="en-US" sz="1400" dirty="0"/>
              <a:t> Td are recorded for total 10 pulses with recording frequency of 10 ns for 200 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BB5CB-9428-8E6A-E534-E01DDE4B6EF4}"/>
              </a:ext>
            </a:extLst>
          </p:cNvPr>
          <p:cNvSpPr txBox="1"/>
          <p:nvPr/>
        </p:nvSpPr>
        <p:spPr>
          <a:xfrm>
            <a:off x="670350" y="3543676"/>
            <a:ext cx="3501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size: 83,317 plasma cases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14AE0-3A02-AB71-CBF5-4C007CAE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53" y="2520583"/>
            <a:ext cx="6375489" cy="81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F9F7-AD54-B1FA-C3D5-7DD53072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845D609A-FE4D-9822-CDA4-ED774336477F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Space and Label Types</a:t>
            </a:r>
          </a:p>
        </p:txBody>
      </p:sp>
      <p:sp>
        <p:nvSpPr>
          <p:cNvPr id="76" name="Slide Number Placeholder 74">
            <a:extLst>
              <a:ext uri="{FF2B5EF4-FFF2-40B4-BE49-F238E27FC236}">
                <a16:creationId xmlns:a16="http://schemas.microsoft.com/office/drawing/2014/main" id="{3F3DEE2C-B03C-8976-B60C-990F15889E68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D0AAD-4685-017C-A83E-C0BCD073611E}"/>
              </a:ext>
            </a:extLst>
          </p:cNvPr>
          <p:cNvSpPr txBox="1"/>
          <p:nvPr/>
        </p:nvSpPr>
        <p:spPr>
          <a:xfrm>
            <a:off x="418964" y="600270"/>
            <a:ext cx="429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one plasma case: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9125D9-CC69-B6C1-6C78-5FE9BCD43AC6}"/>
              </a:ext>
            </a:extLst>
          </p:cNvPr>
          <p:cNvSpPr/>
          <p:nvPr/>
        </p:nvSpPr>
        <p:spPr>
          <a:xfrm>
            <a:off x="678190" y="1139901"/>
            <a:ext cx="3476991" cy="336238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84BEB-DCC7-C3CE-D99A-CE3DC8D8C1A9}"/>
              </a:ext>
            </a:extLst>
          </p:cNvPr>
          <p:cNvSpPr txBox="1"/>
          <p:nvPr/>
        </p:nvSpPr>
        <p:spPr>
          <a:xfrm>
            <a:off x="1390239" y="873065"/>
            <a:ext cx="2037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features X: </a:t>
            </a:r>
            <a:r>
              <a:rPr lang="en-US" b="1" dirty="0"/>
              <a:t>39D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EDF50-FD02-76E6-1996-F64835B03F3A}"/>
              </a:ext>
            </a:extLst>
          </p:cNvPr>
          <p:cNvSpPr txBox="1"/>
          <p:nvPr/>
        </p:nvSpPr>
        <p:spPr>
          <a:xfrm>
            <a:off x="762000" y="1277649"/>
            <a:ext cx="3089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37</a:t>
            </a:r>
            <a:r>
              <a:rPr lang="en-US" dirty="0"/>
              <a:t> gas mole-fraction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ADA36-7155-D896-FD87-D2719D178EEB}"/>
              </a:ext>
            </a:extLst>
          </p:cNvPr>
          <p:cNvSpPr txBox="1"/>
          <p:nvPr/>
        </p:nvSpPr>
        <p:spPr>
          <a:xfrm>
            <a:off x="1118408" y="1569753"/>
            <a:ext cx="2184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input_01 | … |input_37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3F6D9C-79C2-50B0-121C-E4E35A87C1D8}"/>
              </a:ext>
            </a:extLst>
          </p:cNvPr>
          <p:cNvSpPr/>
          <p:nvPr/>
        </p:nvSpPr>
        <p:spPr>
          <a:xfrm>
            <a:off x="1118408" y="1588925"/>
            <a:ext cx="1905508" cy="2886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9A50E-248B-B7E7-2B6A-B80CD7BCA73C}"/>
                  </a:ext>
                </a:extLst>
              </p:cNvPr>
              <p:cNvSpPr txBox="1"/>
              <p:nvPr/>
            </p:nvSpPr>
            <p:spPr>
              <a:xfrm>
                <a:off x="739886" y="3900433"/>
                <a:ext cx="39028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E/N, </a:t>
                </a:r>
                <a:r>
                  <a:rPr lang="en-US" dirty="0"/>
                  <a:t>1e-20 to 1e-14 [Vcm2]</a:t>
                </a:r>
              </a:p>
              <a:p>
                <a:pPr algn="ctr"/>
                <a:r>
                  <a:rPr lang="en-US" dirty="0"/>
                  <a:t>(use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9A50E-248B-B7E7-2B6A-B80CD7BCA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86" y="3900433"/>
                <a:ext cx="3902897" cy="523220"/>
              </a:xfrm>
              <a:prstGeom prst="rect">
                <a:avLst/>
              </a:prstGeom>
              <a:blipFill>
                <a:blip r:embed="rId3"/>
                <a:stretch>
                  <a:fillRect l="-325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6A890-0B1F-98F4-F350-33C940C22AC5}"/>
                  </a:ext>
                </a:extLst>
              </p:cNvPr>
              <p:cNvSpPr txBox="1"/>
              <p:nvPr/>
            </p:nvSpPr>
            <p:spPr>
              <a:xfrm>
                <a:off x="707858" y="3296465"/>
                <a:ext cx="34262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Power, </a:t>
                </a:r>
                <a:r>
                  <a:rPr lang="en-US" dirty="0"/>
                  <a:t>0.1 to 10 across 13 levels</a:t>
                </a:r>
              </a:p>
              <a:p>
                <a:pPr algn="ctr"/>
                <a:r>
                  <a:rPr lang="en-US" dirty="0"/>
                  <a:t> (use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𝑃𝑜𝑤𝑒𝑟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6A890-0B1F-98F4-F350-33C940C22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58" y="3296465"/>
                <a:ext cx="3426298" cy="523220"/>
              </a:xfrm>
              <a:prstGeom prst="rect">
                <a:avLst/>
              </a:prstGeom>
              <a:blipFill>
                <a:blip r:embed="rId4"/>
                <a:stretch>
                  <a:fillRect l="-369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2EE9E01-0B7C-5784-A7EC-4E551C0535B9}"/>
              </a:ext>
            </a:extLst>
          </p:cNvPr>
          <p:cNvSpPr/>
          <p:nvPr/>
        </p:nvSpPr>
        <p:spPr>
          <a:xfrm>
            <a:off x="5018872" y="1026953"/>
            <a:ext cx="3385242" cy="30939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52967-AAB2-D1CC-F262-8BC97BFC3F0A}"/>
              </a:ext>
            </a:extLst>
          </p:cNvPr>
          <p:cNvSpPr txBox="1"/>
          <p:nvPr/>
        </p:nvSpPr>
        <p:spPr>
          <a:xfrm>
            <a:off x="5853246" y="714857"/>
            <a:ext cx="2037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labels Y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0C52C-07E0-D35F-576D-C738AE481057}"/>
              </a:ext>
            </a:extLst>
          </p:cNvPr>
          <p:cNvSpPr txBox="1"/>
          <p:nvPr/>
        </p:nvSpPr>
        <p:spPr>
          <a:xfrm>
            <a:off x="5090751" y="1201968"/>
            <a:ext cx="3089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Electron-impact rate coefficients: 204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85DAB5-3FCC-FC66-3B07-9E6BFCDF2071}"/>
              </a:ext>
            </a:extLst>
          </p:cNvPr>
          <p:cNvSpPr txBox="1"/>
          <p:nvPr/>
        </p:nvSpPr>
        <p:spPr>
          <a:xfrm>
            <a:off x="5090751" y="1688655"/>
            <a:ext cx="3089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Super-elastic Rate Coefficients : 204 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C5E0FF7-B777-A00C-DFE5-2FEF8DE8BB0F}"/>
              </a:ext>
            </a:extLst>
          </p:cNvPr>
          <p:cNvSpPr/>
          <p:nvPr/>
        </p:nvSpPr>
        <p:spPr>
          <a:xfrm>
            <a:off x="4291857" y="2404099"/>
            <a:ext cx="635268" cy="22077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graph of a computer component&#10;&#10;AI-generated content may be incorrect.">
            <a:extLst>
              <a:ext uri="{FF2B5EF4-FFF2-40B4-BE49-F238E27FC236}">
                <a16:creationId xmlns:a16="http://schemas.microsoft.com/office/drawing/2014/main" id="{F00497E6-7428-BDB7-1130-C44F63F207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3" t="3363" r="3005" b="5032"/>
          <a:stretch/>
        </p:blipFill>
        <p:spPr>
          <a:xfrm>
            <a:off x="1593877" y="1937665"/>
            <a:ext cx="2093698" cy="13252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130A67-B597-548E-81D7-4F1D6B9EC669}"/>
              </a:ext>
            </a:extLst>
          </p:cNvPr>
          <p:cNvSpPr txBox="1"/>
          <p:nvPr/>
        </p:nvSpPr>
        <p:spPr>
          <a:xfrm>
            <a:off x="963835" y="2180767"/>
            <a:ext cx="784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PCA:</a:t>
            </a:r>
          </a:p>
        </p:txBody>
      </p:sp>
      <p:pic>
        <p:nvPicPr>
          <p:cNvPr id="4" name="Picture 3" descr="A graph of a positive value distribution&#10;&#10;AI-generated content may be incorrect.">
            <a:extLst>
              <a:ext uri="{FF2B5EF4-FFF2-40B4-BE49-F238E27FC236}">
                <a16:creationId xmlns:a16="http://schemas.microsoft.com/office/drawing/2014/main" id="{D0173226-EC1D-6B08-DF85-3FFE877903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603" t="23922" r="32082"/>
          <a:stretch/>
        </p:blipFill>
        <p:spPr>
          <a:xfrm>
            <a:off x="5558954" y="2248821"/>
            <a:ext cx="2401705" cy="173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9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6910D-116F-D255-F602-8E68CFF6D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FD6FB-17E7-8A8A-C820-A57BF3CD6B72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Models &amp; Hyperparameter Tuning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74">
            <a:extLst>
              <a:ext uri="{FF2B5EF4-FFF2-40B4-BE49-F238E27FC236}">
                <a16:creationId xmlns:a16="http://schemas.microsoft.com/office/drawing/2014/main" id="{C5029717-21B5-0764-A329-613FEF40EFD1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BD277-AD02-76C2-3ABD-8D02F47E9891}"/>
              </a:ext>
            </a:extLst>
          </p:cNvPr>
          <p:cNvSpPr txBox="1"/>
          <p:nvPr/>
        </p:nvSpPr>
        <p:spPr>
          <a:xfrm>
            <a:off x="2142193" y="695014"/>
            <a:ext cx="3514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Separate-task models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8D6BE3-CE15-BFA0-0BC0-60FDE4AE824F}"/>
              </a:ext>
            </a:extLst>
          </p:cNvPr>
          <p:cNvGrpSpPr/>
          <p:nvPr/>
        </p:nvGrpSpPr>
        <p:grpSpPr>
          <a:xfrm>
            <a:off x="1310813" y="1118848"/>
            <a:ext cx="1499988" cy="1673123"/>
            <a:chOff x="778933" y="1352700"/>
            <a:chExt cx="1594126" cy="179576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C7E21DA-1075-51FC-3962-318448B40996}"/>
                </a:ext>
              </a:extLst>
            </p:cNvPr>
            <p:cNvSpPr/>
            <p:nvPr/>
          </p:nvSpPr>
          <p:spPr>
            <a:xfrm>
              <a:off x="778933" y="13527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7BD3C2-0D48-A48D-165B-0186FBF6DC8A}"/>
                </a:ext>
              </a:extLst>
            </p:cNvPr>
            <p:cNvSpPr txBox="1"/>
            <p:nvPr/>
          </p:nvSpPr>
          <p:spPr>
            <a:xfrm>
              <a:off x="778933" y="1416205"/>
              <a:ext cx="1594126" cy="330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Ridge(Baseline)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B5DB0C5-F05C-02A7-28BD-79782BEFA450}"/>
                </a:ext>
              </a:extLst>
            </p:cNvPr>
            <p:cNvSpPr/>
            <p:nvPr/>
          </p:nvSpPr>
          <p:spPr>
            <a:xfrm>
              <a:off x="778934" y="1992393"/>
              <a:ext cx="1405468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5D5476-89F2-76E0-A44E-CA29A2E3A1A0}"/>
                </a:ext>
              </a:extLst>
            </p:cNvPr>
            <p:cNvSpPr txBox="1"/>
            <p:nvPr/>
          </p:nvSpPr>
          <p:spPr>
            <a:xfrm>
              <a:off x="982132" y="2084038"/>
              <a:ext cx="1270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ExtraTrees</a:t>
              </a:r>
              <a:endParaRPr lang="en-US" dirty="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2E98D7E-7B27-4FDF-5F50-A46BCA763BFA}"/>
                </a:ext>
              </a:extLst>
            </p:cNvPr>
            <p:cNvSpPr/>
            <p:nvPr/>
          </p:nvSpPr>
          <p:spPr>
            <a:xfrm>
              <a:off x="778933" y="26574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FNN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6E845F7-B2B3-2001-08DB-6E26AB9D5E07}"/>
              </a:ext>
            </a:extLst>
          </p:cNvPr>
          <p:cNvSpPr txBox="1"/>
          <p:nvPr/>
        </p:nvSpPr>
        <p:spPr>
          <a:xfrm>
            <a:off x="350753" y="1731353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US" b="1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7749E8E-C5F6-1910-1398-626EA7BE75F6}"/>
              </a:ext>
            </a:extLst>
          </p:cNvPr>
          <p:cNvSpPr/>
          <p:nvPr/>
        </p:nvSpPr>
        <p:spPr>
          <a:xfrm>
            <a:off x="626098" y="1762589"/>
            <a:ext cx="57369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D206CFFE-394D-F648-4337-9C63A0345590}"/>
              </a:ext>
            </a:extLst>
          </p:cNvPr>
          <p:cNvSpPr/>
          <p:nvPr/>
        </p:nvSpPr>
        <p:spPr>
          <a:xfrm>
            <a:off x="2803309" y="1800239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D0E95A-01A5-0685-193E-53BCE68EA002}"/>
                  </a:ext>
                </a:extLst>
              </p:cNvPr>
              <p:cNvSpPr txBox="1"/>
              <p:nvPr/>
            </p:nvSpPr>
            <p:spPr>
              <a:xfrm>
                <a:off x="3215028" y="1741794"/>
                <a:ext cx="10448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D0E95A-01A5-0685-193E-53BCE68E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028" y="1741794"/>
                <a:ext cx="1044810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2C361C9-D3A1-784B-8172-37970D4223EB}"/>
              </a:ext>
            </a:extLst>
          </p:cNvPr>
          <p:cNvSpPr txBox="1"/>
          <p:nvPr/>
        </p:nvSpPr>
        <p:spPr>
          <a:xfrm>
            <a:off x="434597" y="3541081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US" b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CCE2C2-7BDF-114C-3E00-E1F30C0ECB5A}"/>
              </a:ext>
            </a:extLst>
          </p:cNvPr>
          <p:cNvGrpSpPr/>
          <p:nvPr/>
        </p:nvGrpSpPr>
        <p:grpSpPr>
          <a:xfrm>
            <a:off x="1280816" y="2993137"/>
            <a:ext cx="1414660" cy="1600956"/>
            <a:chOff x="778933" y="1352700"/>
            <a:chExt cx="1473200" cy="1795766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B5A3270-222E-22D6-8E9B-72C5A2A3DFCE}"/>
                </a:ext>
              </a:extLst>
            </p:cNvPr>
            <p:cNvSpPr/>
            <p:nvPr/>
          </p:nvSpPr>
          <p:spPr>
            <a:xfrm>
              <a:off x="778933" y="13527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94BCFD2-2EF0-CA57-73F3-C2F134E905A1}"/>
                </a:ext>
              </a:extLst>
            </p:cNvPr>
            <p:cNvSpPr/>
            <p:nvPr/>
          </p:nvSpPr>
          <p:spPr>
            <a:xfrm>
              <a:off x="778934" y="1992393"/>
              <a:ext cx="1405468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EE733C-353E-6F39-0FF9-13F03EA04ADE}"/>
                </a:ext>
              </a:extLst>
            </p:cNvPr>
            <p:cNvSpPr txBox="1"/>
            <p:nvPr/>
          </p:nvSpPr>
          <p:spPr>
            <a:xfrm>
              <a:off x="982132" y="2084038"/>
              <a:ext cx="1270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ExtraTrees</a:t>
              </a:r>
              <a:endParaRPr lang="en-US" dirty="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EB8EB65-6F14-88DA-21B2-A6589E992892}"/>
                </a:ext>
              </a:extLst>
            </p:cNvPr>
            <p:cNvSpPr/>
            <p:nvPr/>
          </p:nvSpPr>
          <p:spPr>
            <a:xfrm>
              <a:off x="778933" y="26574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FNN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A8DE20D-4391-BA72-7C72-56B3FAC67D63}"/>
              </a:ext>
            </a:extLst>
          </p:cNvPr>
          <p:cNvSpPr txBox="1"/>
          <p:nvPr/>
        </p:nvSpPr>
        <p:spPr>
          <a:xfrm>
            <a:off x="4216269" y="3431446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DAD4D6-9A5D-2AA0-B72A-980DAA251861}"/>
                  </a:ext>
                </a:extLst>
              </p:cNvPr>
              <p:cNvSpPr txBox="1"/>
              <p:nvPr/>
            </p:nvSpPr>
            <p:spPr>
              <a:xfrm>
                <a:off x="4879778" y="3599307"/>
                <a:ext cx="11950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DAD4D6-9A5D-2AA0-B72A-980DAA251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778" y="3599307"/>
                <a:ext cx="1195004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ECDD60A-715C-3C0A-C132-370D33DD95F6}"/>
              </a:ext>
            </a:extLst>
          </p:cNvPr>
          <p:cNvSpPr txBox="1"/>
          <p:nvPr/>
        </p:nvSpPr>
        <p:spPr>
          <a:xfrm>
            <a:off x="6528331" y="716048"/>
            <a:ext cx="161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Joint models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AEC74A-B3BE-2A4B-003C-9C2323B3B169}"/>
              </a:ext>
            </a:extLst>
          </p:cNvPr>
          <p:cNvGrpSpPr/>
          <p:nvPr/>
        </p:nvGrpSpPr>
        <p:grpSpPr>
          <a:xfrm>
            <a:off x="5707280" y="2071705"/>
            <a:ext cx="2862802" cy="1000090"/>
            <a:chOff x="4779172" y="1334353"/>
            <a:chExt cx="3503310" cy="104232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149881B-78D9-8B3C-0B70-99C881E4B518}"/>
                </a:ext>
              </a:extLst>
            </p:cNvPr>
            <p:cNvSpPr txBox="1"/>
            <p:nvPr/>
          </p:nvSpPr>
          <p:spPr>
            <a:xfrm>
              <a:off x="4779172" y="1756274"/>
              <a:ext cx="971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  <a:endParaRPr lang="en-US" b="1" dirty="0"/>
            </a:p>
          </p:txBody>
        </p:sp>
        <p:sp>
          <p:nvSpPr>
            <p:cNvPr id="64" name="Right Arrow 63">
              <a:extLst>
                <a:ext uri="{FF2B5EF4-FFF2-40B4-BE49-F238E27FC236}">
                  <a16:creationId xmlns:a16="http://schemas.microsoft.com/office/drawing/2014/main" id="{C8E3FEA3-B942-E2A3-3BE7-500F10869529}"/>
                </a:ext>
              </a:extLst>
            </p:cNvPr>
            <p:cNvSpPr/>
            <p:nvPr/>
          </p:nvSpPr>
          <p:spPr>
            <a:xfrm>
              <a:off x="5132653" y="1787510"/>
              <a:ext cx="411719" cy="217742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ight Arrow 64">
              <a:extLst>
                <a:ext uri="{FF2B5EF4-FFF2-40B4-BE49-F238E27FC236}">
                  <a16:creationId xmlns:a16="http://schemas.microsoft.com/office/drawing/2014/main" id="{26E1934A-9C31-53C1-DA60-77C484AF94F3}"/>
                </a:ext>
              </a:extLst>
            </p:cNvPr>
            <p:cNvSpPr/>
            <p:nvPr/>
          </p:nvSpPr>
          <p:spPr>
            <a:xfrm>
              <a:off x="7147884" y="1825160"/>
              <a:ext cx="411719" cy="217742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D2605D60-C692-9211-7DC3-79482D50A1E0}"/>
                </a:ext>
              </a:extLst>
            </p:cNvPr>
            <p:cNvSpPr/>
            <p:nvPr/>
          </p:nvSpPr>
          <p:spPr>
            <a:xfrm>
              <a:off x="7665895" y="1351722"/>
              <a:ext cx="411719" cy="33755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9A517BA-E800-FA8D-C4C3-86B6DB07AD77}"/>
                    </a:ext>
                  </a:extLst>
                </p:cNvPr>
                <p:cNvSpPr txBox="1"/>
                <p:nvPr/>
              </p:nvSpPr>
              <p:spPr>
                <a:xfrm>
                  <a:off x="7461028" y="1334353"/>
                  <a:ext cx="82145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9A517BA-E800-FA8D-C4C3-86B6DB07A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028" y="1334353"/>
                  <a:ext cx="821454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04FD350-7323-C889-4CB9-0A01946133F5}"/>
                </a:ext>
              </a:extLst>
            </p:cNvPr>
            <p:cNvSpPr/>
            <p:nvPr/>
          </p:nvSpPr>
          <p:spPr>
            <a:xfrm>
              <a:off x="5669748" y="1656477"/>
              <a:ext cx="1322472" cy="457528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FNN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Rounded Rectangle 70">
                  <a:extLst>
                    <a:ext uri="{FF2B5EF4-FFF2-40B4-BE49-F238E27FC236}">
                      <a16:creationId xmlns:a16="http://schemas.microsoft.com/office/drawing/2014/main" id="{1DECA129-9A89-D1A2-5B0B-C3C3BDCF7507}"/>
                    </a:ext>
                  </a:extLst>
                </p:cNvPr>
                <p:cNvSpPr/>
                <p:nvPr/>
              </p:nvSpPr>
              <p:spPr>
                <a:xfrm>
                  <a:off x="7676936" y="2039130"/>
                  <a:ext cx="411719" cy="337552"/>
                </a:xfrm>
                <a:prstGeom prst="round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1" name="Rounded Rectangle 70">
                  <a:extLst>
                    <a:ext uri="{FF2B5EF4-FFF2-40B4-BE49-F238E27FC236}">
                      <a16:creationId xmlns:a16="http://schemas.microsoft.com/office/drawing/2014/main" id="{1DECA129-9A89-D1A2-5B0B-C3C3BDCF75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6936" y="2039130"/>
                  <a:ext cx="411719" cy="33755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D2E474D3-355D-AB1D-8B3B-FAB31D60D79C}"/>
              </a:ext>
            </a:extLst>
          </p:cNvPr>
          <p:cNvSpPr txBox="1"/>
          <p:nvPr/>
        </p:nvSpPr>
        <p:spPr>
          <a:xfrm>
            <a:off x="611571" y="1517383"/>
            <a:ext cx="781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F1733A-5393-8BA1-DB63-F4741F14B8EF}"/>
              </a:ext>
            </a:extLst>
          </p:cNvPr>
          <p:cNvGrpSpPr/>
          <p:nvPr/>
        </p:nvGrpSpPr>
        <p:grpSpPr>
          <a:xfrm>
            <a:off x="611571" y="3041909"/>
            <a:ext cx="4282320" cy="1077095"/>
            <a:chOff x="670680" y="3054638"/>
            <a:chExt cx="4417787" cy="1077095"/>
          </a:xfrm>
        </p:grpSpPr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2E4CD71D-117A-2547-8D40-3C2FCED147F7}"/>
                </a:ext>
              </a:extLst>
            </p:cNvPr>
            <p:cNvSpPr/>
            <p:nvPr/>
          </p:nvSpPr>
          <p:spPr>
            <a:xfrm>
              <a:off x="788077" y="3586099"/>
              <a:ext cx="411719" cy="217742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41C2A5FB-EC1C-FC0C-DDB0-9199DDBF2286}"/>
                </a:ext>
              </a:extLst>
            </p:cNvPr>
            <p:cNvSpPr/>
            <p:nvPr/>
          </p:nvSpPr>
          <p:spPr>
            <a:xfrm>
              <a:off x="2755510" y="3612036"/>
              <a:ext cx="411719" cy="217742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2628B1CD-9602-D9F7-9013-0B45FE52D054}"/>
                    </a:ext>
                  </a:extLst>
                </p:cNvPr>
                <p:cNvSpPr/>
                <p:nvPr/>
              </p:nvSpPr>
              <p:spPr>
                <a:xfrm>
                  <a:off x="3215029" y="3541081"/>
                  <a:ext cx="1195004" cy="590652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Latent Coefficients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200" dirty="0"/>
                    <a:t> 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200" dirty="0"/>
                    <a:t> </a:t>
                  </a:r>
                </a:p>
              </p:txBody>
            </p:sp>
          </mc:Choice>
          <mc:Fallback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2628B1CD-9602-D9F7-9013-0B45FE52D0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029" y="3541081"/>
                  <a:ext cx="1195004" cy="59065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06D73D64-70B6-E16B-2B55-7C8326A8CB5B}"/>
                </a:ext>
              </a:extLst>
            </p:cNvPr>
            <p:cNvSpPr/>
            <p:nvPr/>
          </p:nvSpPr>
          <p:spPr>
            <a:xfrm>
              <a:off x="4505632" y="3665564"/>
              <a:ext cx="582835" cy="217742"/>
            </a:xfrm>
            <a:prstGeom prst="right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BF325EC-DA19-ED8E-ADD5-390B53C783ED}"/>
                </a:ext>
              </a:extLst>
            </p:cNvPr>
            <p:cNvSpPr txBox="1"/>
            <p:nvPr/>
          </p:nvSpPr>
          <p:spPr>
            <a:xfrm>
              <a:off x="670680" y="3319699"/>
              <a:ext cx="7818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PCA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560E2B-B8C7-1F37-7E12-1297859C9C58}"/>
                </a:ext>
              </a:extLst>
            </p:cNvPr>
            <p:cNvSpPr txBox="1"/>
            <p:nvPr/>
          </p:nvSpPr>
          <p:spPr>
            <a:xfrm>
              <a:off x="1292903" y="3054638"/>
              <a:ext cx="14999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Ridge(Baseline)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6598C5-96C2-CF97-714A-9CB72E03E56A}"/>
              </a:ext>
            </a:extLst>
          </p:cNvPr>
          <p:cNvCxnSpPr>
            <a:cxnSpLocks/>
          </p:cNvCxnSpPr>
          <p:nvPr/>
        </p:nvCxnSpPr>
        <p:spPr>
          <a:xfrm>
            <a:off x="5601683" y="817032"/>
            <a:ext cx="0" cy="346921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90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4DAA-E0CD-F9CB-D157-DD94A6A2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3B9530-72AD-401D-B7B7-57AED72A9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3D451-2B66-543D-310B-E2773E272D1F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74">
            <a:extLst>
              <a:ext uri="{FF2B5EF4-FFF2-40B4-BE49-F238E27FC236}">
                <a16:creationId xmlns:a16="http://schemas.microsoft.com/office/drawing/2014/main" id="{7BCAFB8D-DE8E-0BCF-A334-2DBBE90838A5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375D5-E60C-F745-F7F9-2F8331F96F7C}"/>
              </a:ext>
            </a:extLst>
          </p:cNvPr>
          <p:cNvSpPr txBox="1"/>
          <p:nvPr/>
        </p:nvSpPr>
        <p:spPr>
          <a:xfrm>
            <a:off x="415766" y="829734"/>
            <a:ext cx="64507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 Sets: </a:t>
            </a:r>
            <a:r>
              <a:rPr lang="en-US" i="0" dirty="0">
                <a:solidFill>
                  <a:srgbClr val="0D0D0D"/>
                </a:solidFill>
                <a:effectLst/>
                <a:latin typeface="+mn-lt"/>
              </a:rPr>
              <a:t>5 shuffled CV on train/</a:t>
            </a:r>
            <a:r>
              <a:rPr lang="en-US" i="0" dirty="0" err="1">
                <a:solidFill>
                  <a:srgbClr val="0D0D0D"/>
                </a:solidFill>
                <a:effectLst/>
                <a:latin typeface="+mn-lt"/>
              </a:rPr>
              <a:t>val</a:t>
            </a:r>
            <a:r>
              <a:rPr lang="en-US" i="0" dirty="0">
                <a:solidFill>
                  <a:srgbClr val="0D0D0D"/>
                </a:solidFill>
                <a:effectLst/>
                <a:latin typeface="+mn-lt"/>
              </a:rPr>
              <a:t> pool (seeds 7, 21, 42, 84, 126)</a:t>
            </a:r>
          </a:p>
          <a:p>
            <a:r>
              <a:rPr lang="en-US" b="1" dirty="0"/>
              <a:t>Two test settings</a:t>
            </a:r>
            <a:r>
              <a:rPr lang="en-US" dirty="0"/>
              <a:t>: random-case split and power-holdout (10mJ)</a:t>
            </a:r>
          </a:p>
          <a:p>
            <a:endParaRPr lang="en-US" dirty="0"/>
          </a:p>
          <a:p>
            <a:r>
              <a:rPr lang="en-US" b="1" dirty="0"/>
              <a:t>Selection metrics: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Separate-task: validation log-RMSE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Joint-task: validation joint log-RMSE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247A-843E-30FC-5007-8E314C1CFF92}"/>
              </a:ext>
            </a:extLst>
          </p:cNvPr>
          <p:cNvSpPr txBox="1"/>
          <p:nvPr/>
        </p:nvSpPr>
        <p:spPr>
          <a:xfrm>
            <a:off x="415766" y="2606040"/>
            <a:ext cx="80566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Baseline- Ridge: alpha = 10</a:t>
            </a:r>
          </a:p>
          <a:p>
            <a:endParaRPr lang="en-US" dirty="0"/>
          </a:p>
          <a:p>
            <a:r>
              <a:rPr lang="en-US" dirty="0" err="1"/>
              <a:t>Extratrees</a:t>
            </a:r>
            <a:r>
              <a:rPr lang="en-US" dirty="0"/>
              <a:t>: </a:t>
            </a:r>
            <a:r>
              <a:rPr lang="en-US" dirty="0" err="1"/>
              <a:t>n_estimators</a:t>
            </a:r>
            <a:r>
              <a:rPr lang="en-US" dirty="0"/>
              <a:t>=200, </a:t>
            </a:r>
            <a:r>
              <a:rPr lang="en-US" dirty="0" err="1"/>
              <a:t>max_depth</a:t>
            </a:r>
            <a:r>
              <a:rPr lang="en-US" dirty="0"/>
              <a:t>=12, </a:t>
            </a:r>
            <a:r>
              <a:rPr lang="en-US" dirty="0" err="1"/>
              <a:t>min_samples_leaf</a:t>
            </a:r>
            <a:r>
              <a:rPr lang="en-US" dirty="0"/>
              <a:t>=1</a:t>
            </a:r>
          </a:p>
          <a:p>
            <a:endParaRPr lang="en-US" dirty="0"/>
          </a:p>
          <a:p>
            <a:r>
              <a:rPr lang="en-US" dirty="0"/>
              <a:t>FFN: width=256, layers=3, dropout=0, </a:t>
            </a:r>
            <a:r>
              <a:rPr lang="en-US" dirty="0" err="1"/>
              <a:t>weight_decay</a:t>
            </a:r>
            <a:r>
              <a:rPr lang="en-US" dirty="0"/>
              <a:t>=1e-5, </a:t>
            </a:r>
            <a:r>
              <a:rPr lang="en-US" dirty="0" err="1"/>
              <a:t>lr</a:t>
            </a:r>
            <a:r>
              <a:rPr lang="en-US" dirty="0"/>
              <a:t>=1e-3, batch=256, early stopping</a:t>
            </a:r>
          </a:p>
          <a:p>
            <a:endParaRPr lang="en-US" dirty="0"/>
          </a:p>
          <a:p>
            <a:r>
              <a:rPr lang="en-US" dirty="0"/>
              <a:t>Latent-output: PCA k=8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4076D-3569-F157-D570-D6E8EB28CB54}"/>
              </a:ext>
            </a:extLst>
          </p:cNvPr>
          <p:cNvSpPr txBox="1"/>
          <p:nvPr/>
        </p:nvSpPr>
        <p:spPr>
          <a:xfrm>
            <a:off x="415766" y="2263973"/>
            <a:ext cx="3927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Curated Tuning</a:t>
            </a:r>
          </a:p>
        </p:txBody>
      </p:sp>
    </p:spTree>
    <p:extLst>
      <p:ext uri="{BB962C8B-B14F-4D97-AF65-F5344CB8AC3E}">
        <p14:creationId xmlns:p14="http://schemas.microsoft.com/office/powerpoint/2010/main" val="249630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11DAA8-7E6D-AD1D-7282-CE92217A2E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399B1-DCA8-E558-D7AB-76396202D273}"/>
              </a:ext>
            </a:extLst>
          </p:cNvPr>
          <p:cNvSpPr txBox="1"/>
          <p:nvPr/>
        </p:nvSpPr>
        <p:spPr>
          <a:xfrm>
            <a:off x="312896" y="-31196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8" name="Picture 47" descr="A graph of a graph&#10;&#10;AI-generated content may be incorrect.">
            <a:extLst>
              <a:ext uri="{FF2B5EF4-FFF2-40B4-BE49-F238E27FC236}">
                <a16:creationId xmlns:a16="http://schemas.microsoft.com/office/drawing/2014/main" id="{46351CE2-CF2F-79F3-D03D-BAE36FC1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98"/>
          <a:stretch/>
        </p:blipFill>
        <p:spPr>
          <a:xfrm>
            <a:off x="4294072" y="754431"/>
            <a:ext cx="2206315" cy="1901807"/>
          </a:xfrm>
          <a:prstGeom prst="rect">
            <a:avLst/>
          </a:prstGeom>
        </p:spPr>
      </p:pic>
      <p:pic>
        <p:nvPicPr>
          <p:cNvPr id="50" name="Picture 49" descr="A graph of a graph&#10;&#10;AI-generated content may be incorrect.">
            <a:extLst>
              <a:ext uri="{FF2B5EF4-FFF2-40B4-BE49-F238E27FC236}">
                <a16:creationId xmlns:a16="http://schemas.microsoft.com/office/drawing/2014/main" id="{0D0FA665-5F6F-5B4A-501A-83317EF13B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99" r="6488" b="1685"/>
          <a:stretch/>
        </p:blipFill>
        <p:spPr>
          <a:xfrm>
            <a:off x="4294072" y="2778664"/>
            <a:ext cx="2090031" cy="194121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89E836B-E9D3-958E-8397-3644B997A8D5}"/>
              </a:ext>
            </a:extLst>
          </p:cNvPr>
          <p:cNvGrpSpPr/>
          <p:nvPr/>
        </p:nvGrpSpPr>
        <p:grpSpPr>
          <a:xfrm>
            <a:off x="377704" y="682647"/>
            <a:ext cx="3851773" cy="1889103"/>
            <a:chOff x="415767" y="701593"/>
            <a:chExt cx="3886883" cy="1796752"/>
          </a:xfrm>
        </p:grpSpPr>
        <p:pic>
          <p:nvPicPr>
            <p:cNvPr id="44" name="Picture 43" descr="A graph of a number of objects&#10;&#10;AI-generated content may be incorrect.">
              <a:extLst>
                <a:ext uri="{FF2B5EF4-FFF2-40B4-BE49-F238E27FC236}">
                  <a16:creationId xmlns:a16="http://schemas.microsoft.com/office/drawing/2014/main" id="{A4A8819F-1512-521B-A8EF-F6148541E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43" b="8282"/>
            <a:stretch/>
          </p:blipFill>
          <p:spPr>
            <a:xfrm>
              <a:off x="415767" y="701593"/>
              <a:ext cx="3842966" cy="1796752"/>
            </a:xfrm>
            <a:prstGeom prst="rect">
              <a:avLst/>
            </a:prstGeom>
          </p:spPr>
        </p:pic>
        <p:sp>
          <p:nvSpPr>
            <p:cNvPr id="51" name="Connector 50">
              <a:extLst>
                <a:ext uri="{FF2B5EF4-FFF2-40B4-BE49-F238E27FC236}">
                  <a16:creationId xmlns:a16="http://schemas.microsoft.com/office/drawing/2014/main" id="{79A99765-C43D-1497-CB92-2BAF5D9DC9CB}"/>
                </a:ext>
              </a:extLst>
            </p:cNvPr>
            <p:cNvSpPr/>
            <p:nvPr/>
          </p:nvSpPr>
          <p:spPr>
            <a:xfrm>
              <a:off x="457200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Connector 51">
              <a:extLst>
                <a:ext uri="{FF2B5EF4-FFF2-40B4-BE49-F238E27FC236}">
                  <a16:creationId xmlns:a16="http://schemas.microsoft.com/office/drawing/2014/main" id="{77D074F8-1882-DB14-2CD7-35DF26A6556F}"/>
                </a:ext>
              </a:extLst>
            </p:cNvPr>
            <p:cNvSpPr/>
            <p:nvPr/>
          </p:nvSpPr>
          <p:spPr>
            <a:xfrm>
              <a:off x="2412518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62B4FD-211F-F10F-3904-6F6C43102640}"/>
              </a:ext>
            </a:extLst>
          </p:cNvPr>
          <p:cNvGrpSpPr/>
          <p:nvPr/>
        </p:nvGrpSpPr>
        <p:grpSpPr>
          <a:xfrm>
            <a:off x="418764" y="2761843"/>
            <a:ext cx="3767194" cy="1889103"/>
            <a:chOff x="4572000" y="683643"/>
            <a:chExt cx="4005616" cy="1870158"/>
          </a:xfrm>
        </p:grpSpPr>
        <p:pic>
          <p:nvPicPr>
            <p:cNvPr id="46" name="Picture 45" descr="A graph of a number of objects&#10;&#10;AI-generated content may be incorrect.">
              <a:extLst>
                <a:ext uri="{FF2B5EF4-FFF2-40B4-BE49-F238E27FC236}">
                  <a16:creationId xmlns:a16="http://schemas.microsoft.com/office/drawing/2014/main" id="{AD1E8BCB-E4DF-38B0-56D7-BC32132F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46" b="8694"/>
            <a:stretch/>
          </p:blipFill>
          <p:spPr>
            <a:xfrm>
              <a:off x="4572000" y="683643"/>
              <a:ext cx="4005616" cy="1870158"/>
            </a:xfrm>
            <a:prstGeom prst="rect">
              <a:avLst/>
            </a:prstGeom>
          </p:spPr>
        </p:pic>
        <p:sp>
          <p:nvSpPr>
            <p:cNvPr id="53" name="Connector 52">
              <a:extLst>
                <a:ext uri="{FF2B5EF4-FFF2-40B4-BE49-F238E27FC236}">
                  <a16:creationId xmlns:a16="http://schemas.microsoft.com/office/drawing/2014/main" id="{65297C6E-022D-E164-1B75-6F0212768D1B}"/>
                </a:ext>
              </a:extLst>
            </p:cNvPr>
            <p:cNvSpPr/>
            <p:nvPr/>
          </p:nvSpPr>
          <p:spPr>
            <a:xfrm>
              <a:off x="4572000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onnector 53">
              <a:extLst>
                <a:ext uri="{FF2B5EF4-FFF2-40B4-BE49-F238E27FC236}">
                  <a16:creationId xmlns:a16="http://schemas.microsoft.com/office/drawing/2014/main" id="{080C999F-B32F-6D99-9092-85F7E08A62C4}"/>
                </a:ext>
              </a:extLst>
            </p:cNvPr>
            <p:cNvSpPr/>
            <p:nvPr/>
          </p:nvSpPr>
          <p:spPr>
            <a:xfrm>
              <a:off x="6582326" y="81990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DEFBE19C-A1BC-3BE8-C064-6A8A65906EC5}"/>
              </a:ext>
            </a:extLst>
          </p:cNvPr>
          <p:cNvSpPr txBox="1"/>
          <p:nvPr/>
        </p:nvSpPr>
        <p:spPr>
          <a:xfrm>
            <a:off x="3521252" y="359046"/>
            <a:ext cx="141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Rate constant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88FBA5-E6DD-76A5-8FCB-026946D4E290}"/>
              </a:ext>
            </a:extLst>
          </p:cNvPr>
          <p:cNvSpPr txBox="1"/>
          <p:nvPr/>
        </p:nvSpPr>
        <p:spPr>
          <a:xfrm>
            <a:off x="2918276" y="2527434"/>
            <a:ext cx="263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Super elastic Rate constant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67DE5A-10F2-1018-AA81-6B5CF4532D0B}"/>
              </a:ext>
            </a:extLst>
          </p:cNvPr>
          <p:cNvSpPr txBox="1"/>
          <p:nvPr/>
        </p:nvSpPr>
        <p:spPr>
          <a:xfrm>
            <a:off x="6500387" y="676691"/>
            <a:ext cx="222485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The mapping is highly </a:t>
            </a: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nonlinear and tabular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  Tree ensembles capture 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</a:rPr>
              <a:t>threshold-like interactions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naturally.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The targets are </a:t>
            </a: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heavy-tailed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with many near-zero values.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+mn-lt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is robust to this heterogeneity and 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</a:rPr>
              <a:t>less sensitive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than FFN optimization to imbalance across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754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0C421-94DF-376E-4BE2-72E292AFC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15" name="Picture 14" descr="A graph with a line graph and numbers&#10;&#10;AI-generated content may be incorrect.">
            <a:extLst>
              <a:ext uri="{FF2B5EF4-FFF2-40B4-BE49-F238E27FC236}">
                <a16:creationId xmlns:a16="http://schemas.microsoft.com/office/drawing/2014/main" id="{AF9A583E-3E25-877E-85DC-1959C173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9"/>
          <a:stretch/>
        </p:blipFill>
        <p:spPr>
          <a:xfrm>
            <a:off x="434965" y="621412"/>
            <a:ext cx="3838861" cy="2152991"/>
          </a:xfrm>
          <a:prstGeom prst="rect">
            <a:avLst/>
          </a:prstGeom>
        </p:spPr>
      </p:pic>
      <p:pic>
        <p:nvPicPr>
          <p:cNvPr id="17" name="Picture 16" descr="A graph with a line and a line graph&#10;&#10;AI-generated content may be incorrect.">
            <a:extLst>
              <a:ext uri="{FF2B5EF4-FFF2-40B4-BE49-F238E27FC236}">
                <a16:creationId xmlns:a16="http://schemas.microsoft.com/office/drawing/2014/main" id="{92EA4140-E1D9-CC1C-1EEA-0347940A6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02"/>
          <a:stretch/>
        </p:blipFill>
        <p:spPr>
          <a:xfrm>
            <a:off x="4365254" y="621412"/>
            <a:ext cx="3838861" cy="21490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E870DE-AB1A-1EDB-1E94-955A0C3041FE}"/>
              </a:ext>
            </a:extLst>
          </p:cNvPr>
          <p:cNvSpPr txBox="1"/>
          <p:nvPr/>
        </p:nvSpPr>
        <p:spPr>
          <a:xfrm>
            <a:off x="312896" y="-31196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B01526-A8A7-67E6-B11B-E303CF21E262}"/>
              </a:ext>
            </a:extLst>
          </p:cNvPr>
          <p:cNvSpPr txBox="1"/>
          <p:nvPr/>
        </p:nvSpPr>
        <p:spPr>
          <a:xfrm>
            <a:off x="434965" y="331996"/>
            <a:ext cx="2534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Worst Case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7A71A3-3E81-DA3F-E63E-E9557A6D1C0E}"/>
              </a:ext>
            </a:extLst>
          </p:cNvPr>
          <p:cNvSpPr txBox="1"/>
          <p:nvPr/>
        </p:nvSpPr>
        <p:spPr>
          <a:xfrm>
            <a:off x="2354395" y="1232847"/>
            <a:ext cx="141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Rate constant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57913-1C0C-B15E-2770-BD7D2D57155A}"/>
              </a:ext>
            </a:extLst>
          </p:cNvPr>
          <p:cNvSpPr txBox="1"/>
          <p:nvPr/>
        </p:nvSpPr>
        <p:spPr>
          <a:xfrm>
            <a:off x="5690275" y="1232847"/>
            <a:ext cx="263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Super-elastic Rate constant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252B07C-0F75-78B1-0346-C6583DBE2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385033"/>
              </p:ext>
            </p:extLst>
          </p:nvPr>
        </p:nvGraphicFramePr>
        <p:xfrm>
          <a:off x="2386158" y="2818287"/>
          <a:ext cx="4467317" cy="82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103">
                  <a:extLst>
                    <a:ext uri="{9D8B030D-6E8A-4147-A177-3AD203B41FA5}">
                      <a16:colId xmlns:a16="http://schemas.microsoft.com/office/drawing/2014/main" val="2612198589"/>
                    </a:ext>
                  </a:extLst>
                </a:gridCol>
                <a:gridCol w="1488607">
                  <a:extLst>
                    <a:ext uri="{9D8B030D-6E8A-4147-A177-3AD203B41FA5}">
                      <a16:colId xmlns:a16="http://schemas.microsoft.com/office/drawing/2014/main" val="1936305214"/>
                    </a:ext>
                  </a:extLst>
                </a:gridCol>
                <a:gridCol w="1488607">
                  <a:extLst>
                    <a:ext uri="{9D8B030D-6E8A-4147-A177-3AD203B41FA5}">
                      <a16:colId xmlns:a16="http://schemas.microsoft.com/office/drawing/2014/main" val="2537309744"/>
                    </a:ext>
                  </a:extLst>
                </a:gridCol>
              </a:tblGrid>
              <a:tr h="253801">
                <a:tc>
                  <a:txBody>
                    <a:bodyPr/>
                    <a:lstStyle/>
                    <a:p>
                      <a:r>
                        <a:rPr lang="en-US" sz="1100" dirty="0"/>
                        <a:t>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01618"/>
                  </a:ext>
                </a:extLst>
              </a:tr>
              <a:tr h="253801">
                <a:tc>
                  <a:txBody>
                    <a:bodyPr/>
                    <a:lstStyle/>
                    <a:p>
                      <a:r>
                        <a:rPr lang="en-US" sz="1100" dirty="0"/>
                        <a:t>Rate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6e-17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03051"/>
                  </a:ext>
                </a:extLst>
              </a:tr>
              <a:tr h="303829">
                <a:tc>
                  <a:txBody>
                    <a:bodyPr/>
                    <a:lstStyle/>
                    <a:p>
                      <a:r>
                        <a:rPr lang="en-US" sz="1100" dirty="0"/>
                        <a:t>Super-Elastic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1e-18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75220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944A5F4F-82DC-DE50-B147-E2DDA2044F07}"/>
              </a:ext>
            </a:extLst>
          </p:cNvPr>
          <p:cNvSpPr/>
          <p:nvPr/>
        </p:nvSpPr>
        <p:spPr>
          <a:xfrm>
            <a:off x="694351" y="570045"/>
            <a:ext cx="491067" cy="2167182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933E9F-0F99-3744-51A5-4BC57EF74918}"/>
              </a:ext>
            </a:extLst>
          </p:cNvPr>
          <p:cNvSpPr/>
          <p:nvPr/>
        </p:nvSpPr>
        <p:spPr>
          <a:xfrm>
            <a:off x="4456023" y="541151"/>
            <a:ext cx="491067" cy="2167182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BDF5A-71CF-6358-2A3F-1D9CF82D4872}"/>
              </a:ext>
            </a:extLst>
          </p:cNvPr>
          <p:cNvSpPr txBox="1"/>
          <p:nvPr/>
        </p:nvSpPr>
        <p:spPr>
          <a:xfrm>
            <a:off x="479494" y="3633655"/>
            <a:ext cx="84969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is strongly magnitude-dependent: very small true values have larger relative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these values 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are physically weak and typically have limited impact on the overall plasma kinetics.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more relevant regime is the moderate-to-high magnitude range (roughly &gt;=1e-12), where the model shows substantially lower and more stable error.</a:t>
            </a:r>
          </a:p>
        </p:txBody>
      </p:sp>
    </p:spTree>
    <p:extLst>
      <p:ext uri="{BB962C8B-B14F-4D97-AF65-F5344CB8AC3E}">
        <p14:creationId xmlns:p14="http://schemas.microsoft.com/office/powerpoint/2010/main" val="255289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BCBA-2F2D-7DFE-329B-6D7E4C7E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DE3E14-ED4A-08FE-9CF0-E2CD8F8921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9" name="Slide Number Placeholder 74">
            <a:extLst>
              <a:ext uri="{FF2B5EF4-FFF2-40B4-BE49-F238E27FC236}">
                <a16:creationId xmlns:a16="http://schemas.microsoft.com/office/drawing/2014/main" id="{48805733-9538-4FEA-B727-91BA26DEE247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C34C2-FB2E-FAB1-BEB3-EB548ADE59E5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300A3-EE2B-3E93-66AF-015F2D4297E9}"/>
              </a:ext>
            </a:extLst>
          </p:cNvPr>
          <p:cNvSpPr txBox="1"/>
          <p:nvPr/>
        </p:nvSpPr>
        <p:spPr>
          <a:xfrm>
            <a:off x="588475" y="832919"/>
            <a:ext cx="74510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built and evaluated </a:t>
            </a:r>
            <a:r>
              <a:rPr lang="en-US" b="1" dirty="0"/>
              <a:t>separate-task</a:t>
            </a:r>
            <a:r>
              <a:rPr lang="en-US" dirty="0"/>
              <a:t> and </a:t>
            </a:r>
            <a:r>
              <a:rPr lang="en-US" b="1" dirty="0"/>
              <a:t>joint models </a:t>
            </a:r>
            <a:r>
              <a:rPr lang="en-US" dirty="0"/>
              <a:t>for predicting Electron-impact rate coefficients and Super-elastic Rate Coefficients.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Separate-task </a:t>
            </a:r>
            <a:r>
              <a:rPr lang="en-US" dirty="0" err="1"/>
              <a:t>ExtraTrees</a:t>
            </a:r>
            <a:r>
              <a:rPr lang="en-US" dirty="0"/>
              <a:t> provides the most reliable overall accuracy, while joint FFN remains a useful multitask baseline but is less stable on task-specific test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 error is naturally inflated in </a:t>
            </a:r>
            <a:r>
              <a:rPr lang="en-US" b="1" dirty="0"/>
              <a:t>ultra-low-magnitude targets </a:t>
            </a:r>
            <a:r>
              <a:rPr lang="en-US" dirty="0"/>
              <a:t>(especially around 1e-20 to 1e-18) because tiny denominators amplify ratio-based error. These channels are generally less influential for practical plasma behavior. </a:t>
            </a:r>
            <a:r>
              <a:rPr lang="en-US" b="1" dirty="0"/>
              <a:t>In the physically important range </a:t>
            </a:r>
            <a:r>
              <a:rPr lang="en-US" dirty="0"/>
              <a:t>(roughly &gt;=1e-12), errors are much smaller and more stable, which better reflects usable model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extend this model to 1D/2D to replace the computationally expensive Boltzmann solver in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68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58DEA-9601-DB44-1228-CE10923A97C0}"/>
              </a:ext>
            </a:extLst>
          </p:cNvPr>
          <p:cNvSpPr txBox="1"/>
          <p:nvPr/>
        </p:nvSpPr>
        <p:spPr>
          <a:xfrm>
            <a:off x="1281309" y="1947894"/>
            <a:ext cx="6314679" cy="105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  <a:spcAft>
                <a:spcPts val="450"/>
              </a:spcAft>
            </a:pPr>
            <a:r>
              <a:rPr lang="en-US" sz="6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6600" dirty="0">
              <a:solidFill>
                <a:schemeClr val="accent4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7498FA-65AA-1910-05A8-0F90C1979E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18865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86018"/>
      </a:accent1>
      <a:accent2>
        <a:srgbClr val="A5A508"/>
      </a:accent2>
      <a:accent3>
        <a:srgbClr val="00B2A9"/>
      </a:accent3>
      <a:accent4>
        <a:srgbClr val="2F65A7"/>
      </a:accent4>
      <a:accent5>
        <a:srgbClr val="702082"/>
      </a:accent5>
      <a:accent6>
        <a:srgbClr val="575294"/>
      </a:accent6>
      <a:hlink>
        <a:srgbClr val="1779B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15241</TotalTime>
  <Words>1245</Words>
  <Application>Microsoft Macintosh PowerPoint</Application>
  <PresentationFormat>On-screen Show (16:9)</PresentationFormat>
  <Paragraphs>120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Cambria Math</vt:lpstr>
      <vt:lpstr>Calibri</vt:lpstr>
      <vt:lpstr>Helvetica Neue Roman</vt:lpstr>
      <vt:lpstr>ui-monospace</vt:lpstr>
      <vt:lpstr>-apple-system</vt:lpstr>
      <vt:lpstr>Arial</vt:lpstr>
      <vt:lpstr>Times New Roman</vt:lpstr>
      <vt:lpstr>Simple Light</vt:lpstr>
      <vt:lpstr>Applied Machine Learning for Plasma Kinetics Simulation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Bingqing</cp:lastModifiedBy>
  <cp:revision>351</cp:revision>
  <dcterms:modified xsi:type="dcterms:W3CDTF">2026-04-14T16:54:41Z</dcterms:modified>
</cp:coreProperties>
</file>