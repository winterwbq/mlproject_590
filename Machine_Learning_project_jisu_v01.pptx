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1278" r:id="rId2"/>
    <p:sldId id="1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FF"/>
    <a:srgbClr val="9400D2"/>
    <a:srgbClr val="203D70"/>
    <a:srgbClr val="009A00"/>
    <a:srgbClr val="B3873E"/>
    <a:srgbClr val="437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84517" autoAdjust="0"/>
  </p:normalViewPr>
  <p:slideViewPr>
    <p:cSldViewPr snapToGrid="0" snapToObjects="1">
      <p:cViewPr varScale="1">
        <p:scale>
          <a:sx n="79" d="100"/>
          <a:sy n="79" d="100"/>
        </p:scale>
        <p:origin x="60" y="148"/>
      </p:cViewPr>
      <p:guideLst/>
    </p:cSldViewPr>
  </p:slideViewPr>
  <p:outlineViewPr>
    <p:cViewPr>
      <p:scale>
        <a:sx n="33" d="100"/>
        <a:sy n="33" d="100"/>
      </p:scale>
      <p:origin x="0" y="-130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B416E-8388-489D-A633-D4A5C4C32D8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CBE01-8B46-47DF-B7EA-7774265B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96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F180-8E5D-2D48-BA46-43ED5D22ADF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7546B-464A-DE43-8B33-659059AD97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6D50C-88A2-F04B-ADCD-EA3C8F0F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866E1-079E-F240-BEF8-CDCB5689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9B7EA-1AFE-3947-9AC3-CD731DFF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11A668-2BF8-7541-8A62-07A7CD215B2A}"/>
              </a:ext>
            </a:extLst>
          </p:cNvPr>
          <p:cNvSpPr/>
          <p:nvPr userDrawn="1"/>
        </p:nvSpPr>
        <p:spPr>
          <a:xfrm>
            <a:off x="0" y="0"/>
            <a:ext cx="12192000" cy="715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BA5CDB-3CE0-FD43-AA24-5711785A9B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591175"/>
            <a:ext cx="5664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87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38A72-9BE8-1C46-945B-D7DFA9F6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E26E-FBEA-3945-8375-7A40EA672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C8AD-BAE2-3044-8E4F-9CE3FFD4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5934-C038-8749-995B-6DB2A4B8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410A8-099D-E54C-A4FD-A44459B7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6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331-837E-154C-92CF-A529BA96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D7CD-3AC4-DD40-856A-71F863F12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2399D-21C8-B649-A83D-80924D31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DE6C5-6F38-1B4C-B795-253C168D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9536-C1B1-2549-AD07-60586889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1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CBD6-EFED-E941-8882-CD07966C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D4B27-C5B3-B24F-9C65-68607238E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1C2C2-D8A8-AD4B-91DE-2A04B6105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BA921-A433-A04E-894B-0BBBBB94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9CC1D-8C3C-5040-91BB-756AC60E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84715-9293-954E-A67C-4319356C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9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F86E-469A-0F40-BD31-DE86C077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17AE-1B70-DC47-80E7-8505A4ADF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DC4C9-9676-194D-863B-3DF31EEB7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23AD2-6931-1C45-924A-129587CDF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04E23-AD80-184F-9A61-D97CE333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3F9CD-9CDF-7C4D-BC46-2876E43D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511E4-5673-DF49-98C7-8C046C81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8A0D7-BE6B-C24A-B527-94B72A6C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3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B69C-08F4-E14E-B56F-B37FA50F1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8277B-0E68-294C-A8E4-9A64982E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752A7-EDE5-9645-9DDF-41DF479B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076DC-554F-0840-9D45-65FC30B9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7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39CBB-E6DD-9048-A97B-B657B7D7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E298E-617B-C64F-BF2F-CBE243B6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01CBF-7FDF-AC4F-AB06-9433B5FD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3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58A6-5574-8F4B-BCEF-7E8D95BF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CF6B-C36A-674B-90ED-2AC1AA086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DE30E-BE55-E341-8D43-D4E8E8C8E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45352-7776-1B44-9118-369DF39E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A3FEB-5F6F-0948-9E9F-0BDDAF3A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77E8A-210D-9044-BE2D-71295562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42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C8C5-3E1A-394C-ACDC-23A6E222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37DA5-BB4B-D04A-AB0C-C5D27C183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03FFC-BE76-5A43-B51F-BD6044FA4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1BDCA-6616-9343-836B-EF7CD41E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72E79-D98F-A14C-B3A0-2AB76DB8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57092-AD44-3642-8BA9-1044D8F1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5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F90A1-ABA8-7348-AAF8-6708023F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922"/>
            <a:ext cx="10515600" cy="1024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64EE5-3674-AF47-B2EA-58B3DF976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87DCD-6DAF-0644-8343-677B4C7D1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EFC8-0246-D64D-88AC-C2DDF89BB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CFA60-4A05-204E-BAEF-19A7C5E31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E03BA-A727-6E42-9F41-51EC606A7D2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0CE550-83F7-4A47-A5C7-4D15C69306D7}"/>
              </a:ext>
            </a:extLst>
          </p:cNvPr>
          <p:cNvSpPr/>
          <p:nvPr userDrawn="1"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tx1"/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8B846-3F26-D449-8A0C-923AD495315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2811" y="230188"/>
            <a:ext cx="3373977" cy="257209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BFA28E39-09B2-4445-8D6C-2AEB507835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878" y="6395596"/>
            <a:ext cx="819236" cy="28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14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96A8-5C24-EA6D-F81F-EE2B8257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20023B-04CE-0345-F2C9-8CDAF8579E38}"/>
                  </a:ext>
                </a:extLst>
              </p:cNvPr>
              <p:cNvSpPr txBox="1"/>
              <p:nvPr/>
            </p:nvSpPr>
            <p:spPr>
              <a:xfrm>
                <a:off x="335844" y="1344519"/>
                <a:ext cx="11745565" cy="5076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dirty="0"/>
                  <a:t>• Low temperature plasmas is partially-ionized gas and involves chemical reactions such as ionizations and excitations.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b="1" dirty="0"/>
                  <a:t>• The electron impact rate coefficients k are calculated from electron distribution function.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𝒗𝒇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𝒅𝒗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400" b="1" dirty="0"/>
              </a:p>
              <a:p>
                <a:pPr>
                  <a:spcAft>
                    <a:spcPts val="600"/>
                  </a:spcAft>
                </a:pPr>
                <a:r>
                  <a:rPr lang="en-US" sz="2400" b="1" dirty="0"/>
                  <a:t>• Typically, two-term Boltzmann equation is numerically solved to obtain electron distribution function, mainly dependent on E/N and densities of charged/neutral species</a:t>
                </a:r>
              </a:p>
              <a:p>
                <a:pPr>
                  <a:spcAft>
                    <a:spcPts val="600"/>
                  </a:spcAft>
                </a:pPr>
                <a:endParaRPr lang="en-US" sz="2400" b="1" dirty="0"/>
              </a:p>
              <a:p>
                <a:pPr>
                  <a:spcAft>
                    <a:spcPts val="600"/>
                  </a:spcAft>
                </a:pPr>
                <a:endParaRPr lang="en-US" sz="2400" b="1" dirty="0"/>
              </a:p>
              <a:p>
                <a:pPr>
                  <a:spcAft>
                    <a:spcPts val="600"/>
                  </a:spcAft>
                </a:pPr>
                <a:endParaRPr lang="en-US" sz="2400" b="1" dirty="0"/>
              </a:p>
              <a:p>
                <a:pPr>
                  <a:spcAft>
                    <a:spcPts val="600"/>
                  </a:spcAft>
                </a:pPr>
                <a:r>
                  <a:rPr lang="en-US" sz="2400" b="1" dirty="0"/>
                  <a:t>• However, this is still very computationally expensive especially in 2-dimensional domain and machine learning model to replace Boltzmann equation solver can significantly reduce the calculation time. 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20023B-04CE-0345-F2C9-8CDAF8579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44" y="1344519"/>
                <a:ext cx="11745565" cy="5076903"/>
              </a:xfrm>
              <a:prstGeom prst="rect">
                <a:avLst/>
              </a:prstGeom>
              <a:blipFill>
                <a:blip r:embed="rId2"/>
                <a:stretch>
                  <a:fillRect l="-778" t="-962" r="-208"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551A1A-65C1-50BB-3257-B1435D8735C7}"/>
              </a:ext>
            </a:extLst>
          </p:cNvPr>
          <p:cNvSpPr txBox="1"/>
          <p:nvPr/>
        </p:nvSpPr>
        <p:spPr>
          <a:xfrm>
            <a:off x="3073706" y="44728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F1534-95AF-7F28-5BEC-2F24C651C9A8}"/>
              </a:ext>
            </a:extLst>
          </p:cNvPr>
          <p:cNvSpPr txBox="1"/>
          <p:nvPr/>
        </p:nvSpPr>
        <p:spPr>
          <a:xfrm>
            <a:off x="489958" y="798139"/>
            <a:ext cx="701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79E644-2B54-59F4-1E89-A03F77794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58" y="3876782"/>
            <a:ext cx="9349616" cy="119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DC06-9773-F21D-46F2-150CC86B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131269-120D-E1A2-C089-1FCAA757AEF7}"/>
              </a:ext>
            </a:extLst>
          </p:cNvPr>
          <p:cNvSpPr txBox="1"/>
          <p:nvPr/>
        </p:nvSpPr>
        <p:spPr>
          <a:xfrm>
            <a:off x="489958" y="1407340"/>
            <a:ext cx="11355921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/>
              <a:t>• 0-dimensional model </a:t>
            </a:r>
            <a:r>
              <a:rPr lang="en-US" sz="2400" b="1" i="1" dirty="0" err="1"/>
              <a:t>GlobalKin</a:t>
            </a:r>
            <a:r>
              <a:rPr lang="en-US" sz="2400" b="1" i="1" dirty="0"/>
              <a:t> </a:t>
            </a:r>
            <a:r>
              <a:rPr lang="en-US" sz="2400" b="1" dirty="0"/>
              <a:t>developed by Prof. Kushner’s group was used to obtain the data set of rate coefficients &amp; E/N and densities of charged/neutral species.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• The electron impact rate coefficients includes 204 chemical reactions such as ionization, excitation, and super-elastic reactions.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• </a:t>
            </a:r>
            <a:r>
              <a:rPr lang="en-US" sz="2400" b="1" dirty="0" err="1"/>
              <a:t>Ar</a:t>
            </a:r>
            <a:r>
              <a:rPr lang="en-US" sz="2400" b="1" dirty="0"/>
              <a:t>/H2O = 98/2, 1 kHz pulse with width of 100 ns, energy deposition per pulse from 0.1 to 10 J/cm</a:t>
            </a:r>
            <a:r>
              <a:rPr lang="en-US" sz="2400" b="1" baseline="30000" dirty="0"/>
              <a:t>3</a:t>
            </a:r>
            <a:r>
              <a:rPr lang="en-US" sz="2400" b="1" dirty="0"/>
              <a:t>.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• Electron impact rate coefficients in the range of E/N from 10</a:t>
            </a:r>
            <a:r>
              <a:rPr lang="en-US" sz="2400" b="1" baseline="30000" dirty="0"/>
              <a:t>-3</a:t>
            </a:r>
            <a:r>
              <a:rPr lang="en-US" sz="2400" b="1" dirty="0"/>
              <a:t> to 10</a:t>
            </a:r>
            <a:r>
              <a:rPr lang="en-US" sz="2400" b="1" baseline="30000" dirty="0"/>
              <a:t>3</a:t>
            </a:r>
            <a:r>
              <a:rPr lang="en-US" sz="2400" b="1" dirty="0"/>
              <a:t> Td are recorded for total 10 pulses with recording frequency of 10 ns for 200 ns. </a:t>
            </a:r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>
              <a:spcAft>
                <a:spcPts val="600"/>
              </a:spcAft>
            </a:pPr>
            <a:r>
              <a:rPr lang="en-US" sz="2400" b="1" dirty="0"/>
              <a:t>Input: E/N and densities of charged/neutral species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Output: Electron impact rate coefficients</a:t>
            </a:r>
            <a:endParaRPr lang="en-US" sz="2400" dirty="0"/>
          </a:p>
          <a:p>
            <a:endParaRPr lang="en-US" sz="2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6F0ED-5CD9-8D20-40D1-2C167A334121}"/>
              </a:ext>
            </a:extLst>
          </p:cNvPr>
          <p:cNvSpPr txBox="1"/>
          <p:nvPr/>
        </p:nvSpPr>
        <p:spPr>
          <a:xfrm>
            <a:off x="3073706" y="44728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D8F73-D93C-DC00-ABB5-89C6CA7059A4}"/>
              </a:ext>
            </a:extLst>
          </p:cNvPr>
          <p:cNvSpPr txBox="1"/>
          <p:nvPr/>
        </p:nvSpPr>
        <p:spPr>
          <a:xfrm>
            <a:off x="489958" y="798139"/>
            <a:ext cx="701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555857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284C"/>
      </a:dk1>
      <a:lt1>
        <a:srgbClr val="FFCB05"/>
      </a:lt1>
      <a:dk2>
        <a:srgbClr val="00284C"/>
      </a:dk2>
      <a:lt2>
        <a:srgbClr val="FFFFFF"/>
      </a:lt2>
      <a:accent1>
        <a:srgbClr val="1769A5"/>
      </a:accent1>
      <a:accent2>
        <a:srgbClr val="00AB9F"/>
      </a:accent2>
      <a:accent3>
        <a:srgbClr val="297FD5"/>
      </a:accent3>
      <a:accent4>
        <a:srgbClr val="00AB9F"/>
      </a:accent4>
      <a:accent5>
        <a:srgbClr val="5AA2AE"/>
      </a:accent5>
      <a:accent6>
        <a:srgbClr val="FDEA6F"/>
      </a:accent6>
      <a:hlink>
        <a:srgbClr val="00AB9F"/>
      </a:hlink>
      <a:folHlink>
        <a:srgbClr val="287FD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7047086-FBE4-41A9-9C66-9C75E89015D5}" vid="{C833D3CC-67BD-4619-91A7-5ED40AC5C7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15845</TotalTime>
  <Words>231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(442-W22-L01) Course Introduction</dc:title>
  <dc:creator>Kochunas, Brendan</dc:creator>
  <cp:lastModifiedBy>Jeon, Jisu</cp:lastModifiedBy>
  <cp:revision>1059</cp:revision>
  <dcterms:created xsi:type="dcterms:W3CDTF">2020-04-08T15:12:32Z</dcterms:created>
  <dcterms:modified xsi:type="dcterms:W3CDTF">2026-04-14T00:59:13Z</dcterms:modified>
  <cp:category>NERS 442</cp:category>
</cp:coreProperties>
</file>